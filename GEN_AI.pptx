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80"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12/4/2025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CF42-2721-4017-BF7B-1E849084D2BE}"/>
              </a:ext>
            </a:extLst>
          </p:cNvPr>
          <p:cNvSpPr>
            <a:spLocks noGrp="1"/>
          </p:cNvSpPr>
          <p:nvPr>
            <p:ph type="ctrTitle"/>
          </p:nvPr>
        </p:nvSpPr>
        <p:spPr>
          <a:xfrm>
            <a:off x="2237173" y="727969"/>
            <a:ext cx="7235301" cy="3119899"/>
          </a:xfrm>
        </p:spPr>
        <p:txBody>
          <a:bodyPr>
            <a:noAutofit/>
          </a:bodyPr>
          <a:lstStyle/>
          <a:p>
            <a:pPr algn="ctr"/>
            <a:r>
              <a:rPr lang="en-US" sz="6000" b="1" dirty="0">
                <a:latin typeface="Times New Roman" panose="02020603050405020304" pitchFamily="18" charset="0"/>
                <a:cs typeface="Times New Roman" panose="02020603050405020304" pitchFamily="18" charset="0"/>
              </a:rPr>
              <a:t>SMARTWATCH SENTIMENT ANALYZER</a:t>
            </a:r>
            <a:endParaRPr lang="en-IN" sz="6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DCF03CE-8869-46FB-8485-D5BD5D434234}"/>
              </a:ext>
            </a:extLst>
          </p:cNvPr>
          <p:cNvPicPr>
            <a:picLocks noChangeAspect="1"/>
          </p:cNvPicPr>
          <p:nvPr/>
        </p:nvPicPr>
        <p:blipFill>
          <a:blip r:embed="rId2"/>
          <a:stretch>
            <a:fillRect/>
          </a:stretch>
        </p:blipFill>
        <p:spPr>
          <a:xfrm>
            <a:off x="8522563" y="3240350"/>
            <a:ext cx="3367597" cy="3119899"/>
          </a:xfrm>
          <a:prstGeom prst="rect">
            <a:avLst/>
          </a:prstGeom>
        </p:spPr>
      </p:pic>
    </p:spTree>
    <p:extLst>
      <p:ext uri="{BB962C8B-B14F-4D97-AF65-F5344CB8AC3E}">
        <p14:creationId xmlns:p14="http://schemas.microsoft.com/office/powerpoint/2010/main" val="826346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15767-2849-49DD-81D9-B162D67931B7}"/>
              </a:ext>
            </a:extLst>
          </p:cNvPr>
          <p:cNvSpPr>
            <a:spLocks noGrp="1"/>
          </p:cNvSpPr>
          <p:nvPr>
            <p:ph type="title"/>
          </p:nvPr>
        </p:nvSpPr>
        <p:spPr>
          <a:xfrm>
            <a:off x="2592925" y="1065320"/>
            <a:ext cx="8911687" cy="839680"/>
          </a:xfrm>
        </p:spPr>
        <p:txBody>
          <a:bodyPr/>
          <a:lstStyle/>
          <a:p>
            <a:r>
              <a:rPr lang="en-US" b="1" dirty="0">
                <a:latin typeface="Times New Roman" panose="02020603050405020304" pitchFamily="18" charset="0"/>
                <a:cs typeface="Times New Roman" panose="02020603050405020304" pitchFamily="18" charset="0"/>
              </a:rPr>
              <a:t>GROUP MEMBERS: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5547F8-D88B-468F-8B98-D849E6A48228}"/>
              </a:ext>
            </a:extLst>
          </p:cNvPr>
          <p:cNvSpPr>
            <a:spLocks noGrp="1"/>
          </p:cNvSpPr>
          <p:nvPr>
            <p:ph idx="1"/>
          </p:nvPr>
        </p:nvSpPr>
        <p:spPr>
          <a:xfrm>
            <a:off x="2589212" y="2610034"/>
            <a:ext cx="8632163" cy="3301187"/>
          </a:xfrm>
        </p:spPr>
        <p:txBody>
          <a:bodyPr>
            <a:normAutofit/>
          </a:bodyPr>
          <a:lstStyle/>
          <a:p>
            <a:pPr marL="0" indent="0" algn="ctr">
              <a:buNone/>
            </a:pPr>
            <a:r>
              <a:rPr lang="en-IN" sz="2000" b="1" dirty="0" err="1">
                <a:latin typeface="Times New Roman" panose="02020603050405020304" pitchFamily="18" charset="0"/>
                <a:cs typeface="Times New Roman" panose="02020603050405020304" pitchFamily="18" charset="0"/>
              </a:rPr>
              <a:t>M.Thavanesh</a:t>
            </a:r>
            <a:r>
              <a:rPr lang="en-IN" sz="2000" b="1" dirty="0">
                <a:latin typeface="Times New Roman" panose="02020603050405020304" pitchFamily="18" charset="0"/>
                <a:cs typeface="Times New Roman" panose="02020603050405020304" pitchFamily="18" charset="0"/>
              </a:rPr>
              <a:t> Krishna - AP23110010619</a:t>
            </a:r>
          </a:p>
          <a:p>
            <a:pPr marL="0" indent="0" algn="ctr">
              <a:buNone/>
            </a:pPr>
            <a:r>
              <a:rPr lang="en-IN" sz="2000" b="1" dirty="0" err="1">
                <a:latin typeface="Times New Roman" panose="02020603050405020304" pitchFamily="18" charset="0"/>
                <a:cs typeface="Times New Roman" panose="02020603050405020304" pitchFamily="18" charset="0"/>
              </a:rPr>
              <a:t>B.Murali</a:t>
            </a:r>
            <a:r>
              <a:rPr lang="en-IN" sz="2000" b="1" dirty="0">
                <a:latin typeface="Times New Roman" panose="02020603050405020304" pitchFamily="18" charset="0"/>
                <a:cs typeface="Times New Roman" panose="02020603050405020304" pitchFamily="18" charset="0"/>
              </a:rPr>
              <a:t> Krishna - AP23110010656</a:t>
            </a:r>
          </a:p>
          <a:p>
            <a:pPr marL="0" indent="0" algn="ctr">
              <a:buNone/>
            </a:pPr>
            <a:r>
              <a:rPr lang="en-IN" sz="2000" b="1" dirty="0" err="1">
                <a:latin typeface="Times New Roman" panose="02020603050405020304" pitchFamily="18" charset="0"/>
                <a:cs typeface="Times New Roman" panose="02020603050405020304" pitchFamily="18" charset="0"/>
              </a:rPr>
              <a:t>K.Harshavardhini</a:t>
            </a:r>
            <a:r>
              <a:rPr lang="en-IN" sz="2000" b="1" dirty="0">
                <a:latin typeface="Times New Roman" panose="02020603050405020304" pitchFamily="18" charset="0"/>
                <a:cs typeface="Times New Roman" panose="02020603050405020304" pitchFamily="18" charset="0"/>
              </a:rPr>
              <a:t> - AP23110011144</a:t>
            </a:r>
          </a:p>
          <a:p>
            <a:pPr marL="0" indent="0" algn="ctr">
              <a:buNone/>
            </a:pPr>
            <a:r>
              <a:rPr lang="en-IN" sz="2000" b="1" dirty="0" err="1">
                <a:latin typeface="Times New Roman" panose="02020603050405020304" pitchFamily="18" charset="0"/>
                <a:cs typeface="Times New Roman" panose="02020603050405020304" pitchFamily="18" charset="0"/>
              </a:rPr>
              <a:t>K.Mahasvin</a:t>
            </a:r>
            <a:r>
              <a:rPr lang="en-IN" sz="2000" b="1" dirty="0">
                <a:latin typeface="Times New Roman" panose="02020603050405020304" pitchFamily="18" charset="0"/>
                <a:cs typeface="Times New Roman" panose="02020603050405020304" pitchFamily="18" charset="0"/>
              </a:rPr>
              <a:t> - AP23110010075</a:t>
            </a:r>
          </a:p>
          <a:p>
            <a:pPr marL="0" indent="0" algn="ctr">
              <a:buNone/>
            </a:pPr>
            <a:r>
              <a:rPr lang="en-IN" sz="2000" b="1" dirty="0">
                <a:latin typeface="Times New Roman" panose="02020603050405020304" pitchFamily="18" charset="0"/>
                <a:cs typeface="Times New Roman" panose="02020603050405020304" pitchFamily="18" charset="0"/>
              </a:rPr>
              <a:t>B.Saicharan - AP23110010173</a:t>
            </a:r>
          </a:p>
        </p:txBody>
      </p:sp>
    </p:spTree>
    <p:extLst>
      <p:ext uri="{BB962C8B-B14F-4D97-AF65-F5344CB8AC3E}">
        <p14:creationId xmlns:p14="http://schemas.microsoft.com/office/powerpoint/2010/main" val="3025266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53FD6-1C4D-4936-A9CE-9767D60B5E04}"/>
              </a:ext>
            </a:extLst>
          </p:cNvPr>
          <p:cNvSpPr>
            <a:spLocks noGrp="1"/>
          </p:cNvSpPr>
          <p:nvPr>
            <p:ph type="title"/>
          </p:nvPr>
        </p:nvSpPr>
        <p:spPr>
          <a:xfrm>
            <a:off x="2592925" y="624110"/>
            <a:ext cx="7438842" cy="1280890"/>
          </a:xfrm>
        </p:spPr>
        <p:txBody>
          <a:bodyPr/>
          <a:lstStyle/>
          <a:p>
            <a:r>
              <a:rPr lang="en-US" b="1" dirty="0">
                <a:latin typeface="Times New Roman" panose="02020603050405020304" pitchFamily="18" charset="0"/>
                <a:cs typeface="Times New Roman" panose="02020603050405020304" pitchFamily="18" charset="0"/>
              </a:rPr>
              <a:t>PROBLEM STATEMENT &amp; 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143AC0-7803-498F-8C08-D48C6A3B88E5}"/>
              </a:ext>
            </a:extLst>
          </p:cNvPr>
          <p:cNvSpPr>
            <a:spLocks noGrp="1"/>
          </p:cNvSpPr>
          <p:nvPr>
            <p:ph idx="1"/>
          </p:nvPr>
        </p:nvSpPr>
        <p:spPr>
          <a:xfrm>
            <a:off x="2589212" y="2133600"/>
            <a:ext cx="4326493" cy="3777622"/>
          </a:xfrm>
        </p:spPr>
        <p:txBody>
          <a:bodyPr/>
          <a:lstStyle/>
          <a:p>
            <a:pPr marL="0" indent="0">
              <a:buNone/>
            </a:pPr>
            <a:r>
              <a:rPr lang="en-US" b="1" dirty="0">
                <a:latin typeface="Times New Roman" panose="02020603050405020304" pitchFamily="18" charset="0"/>
                <a:cs typeface="Times New Roman" panose="02020603050405020304" pitchFamily="18" charset="0"/>
              </a:rPr>
              <a:t>Problem Statement:</a:t>
            </a:r>
          </a:p>
          <a:p>
            <a:pPr marL="0" indent="0">
              <a:buNone/>
            </a:pPr>
            <a:r>
              <a:rPr lang="en-US" dirty="0">
                <a:latin typeface="Times New Roman" panose="02020603050405020304" pitchFamily="18" charset="0"/>
                <a:cs typeface="Times New Roman" panose="02020603050405020304" pitchFamily="18" charset="0"/>
              </a:rPr>
              <a:t>Salesforce SmartBridge Company wants a simple and efficient way to understand customer opinions from smartwatch reviews. Since reviews often contain mixed or unclear feedback, the company needs a tool that can automatically identify whether a review is positive, negative, or neutral. The goal is to identify customer sentiment and improve product development.</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97A070F-EDFB-41FC-B594-269128333246}"/>
              </a:ext>
            </a:extLst>
          </p:cNvPr>
          <p:cNvSpPr txBox="1"/>
          <p:nvPr/>
        </p:nvSpPr>
        <p:spPr>
          <a:xfrm>
            <a:off x="7261935" y="3195961"/>
            <a:ext cx="4500978"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Objectives: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 user-friendly sentiment analysis tool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Automatically classify customer reviews into Positive, Negative, or Neutral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 the company gather actionable insights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product development based on customer feedback</a:t>
            </a:r>
          </a:p>
          <a:p>
            <a:endParaRPr lang="en-IN" dirty="0"/>
          </a:p>
        </p:txBody>
      </p:sp>
    </p:spTree>
    <p:extLst>
      <p:ext uri="{BB962C8B-B14F-4D97-AF65-F5344CB8AC3E}">
        <p14:creationId xmlns:p14="http://schemas.microsoft.com/office/powerpoint/2010/main" val="308889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88FB9-C142-4DBA-9B90-AF620B847E8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a:t>
            </a:r>
            <a:r>
              <a:rPr lang="en-IN" b="1" dirty="0">
                <a:latin typeface="Times New Roman" panose="02020603050405020304" pitchFamily="18" charset="0"/>
                <a:cs typeface="Times New Roman" panose="02020603050405020304" pitchFamily="18" charset="0"/>
              </a:rPr>
              <a:t>ROPOSED SOLUTION &amp; WORKFLOW</a:t>
            </a:r>
          </a:p>
        </p:txBody>
      </p:sp>
      <p:sp>
        <p:nvSpPr>
          <p:cNvPr id="3" name="Content Placeholder 2">
            <a:extLst>
              <a:ext uri="{FF2B5EF4-FFF2-40B4-BE49-F238E27FC236}">
                <a16:creationId xmlns:a16="http://schemas.microsoft.com/office/drawing/2014/main" id="{2DBB37A5-10C9-4D47-B711-BC0491D12D91}"/>
              </a:ext>
            </a:extLst>
          </p:cNvPr>
          <p:cNvSpPr>
            <a:spLocks noGrp="1"/>
          </p:cNvSpPr>
          <p:nvPr>
            <p:ph idx="1"/>
          </p:nvPr>
        </p:nvSpPr>
        <p:spPr>
          <a:xfrm>
            <a:off x="2870971" y="1793289"/>
            <a:ext cx="5539666" cy="4117933"/>
          </a:xfrm>
        </p:spPr>
        <p:txBody>
          <a:bodyPr>
            <a:normAutofit fontScale="92500" lnSpcReduction="10000"/>
          </a:bodyPr>
          <a:lstStyle/>
          <a:p>
            <a:pPr marL="0" indent="0">
              <a:buNone/>
            </a:pPr>
            <a:r>
              <a:rPr lang="en-US" b="1" dirty="0"/>
              <a:t>Flask API for Real-Time Sentiment Analysis</a:t>
            </a:r>
          </a:p>
          <a:p>
            <a:r>
              <a:rPr lang="en-US" sz="1500" dirty="0"/>
              <a:t>A lightweight </a:t>
            </a:r>
            <a:r>
              <a:rPr lang="en-US" sz="1500" b="1" dirty="0"/>
              <a:t>Flask-based REST API</a:t>
            </a:r>
            <a:r>
              <a:rPr lang="en-US" sz="1500" dirty="0"/>
              <a:t> that performs real-time sentiment analysis on customer review text using the </a:t>
            </a:r>
            <a:r>
              <a:rPr lang="en-US" sz="1500" b="1" dirty="0" err="1"/>
              <a:t>TextBlob</a:t>
            </a:r>
            <a:r>
              <a:rPr lang="en-US" sz="1500" b="1" dirty="0"/>
              <a:t> sentiment polarity</a:t>
            </a:r>
            <a:r>
              <a:rPr lang="en-US" sz="1500" dirty="0"/>
              <a:t> method.</a:t>
            </a:r>
          </a:p>
          <a:p>
            <a:pPr marL="0" indent="0">
              <a:buNone/>
            </a:pPr>
            <a:r>
              <a:rPr lang="en-IN" b="1" dirty="0">
                <a:latin typeface="Times New Roman" panose="02020603050405020304" pitchFamily="18" charset="0"/>
                <a:cs typeface="Times New Roman" panose="02020603050405020304" pitchFamily="18" charset="0"/>
              </a:rPr>
              <a:t>Workflow:</a:t>
            </a:r>
          </a:p>
          <a:p>
            <a:r>
              <a:rPr lang="en-US" sz="1500" dirty="0"/>
              <a:t>The user enters a smartwatch review on the web interface.</a:t>
            </a:r>
          </a:p>
          <a:p>
            <a:r>
              <a:rPr lang="en-US" sz="1500" dirty="0"/>
              <a:t>The review text is sent as a request to the Flask backend API.</a:t>
            </a:r>
          </a:p>
          <a:p>
            <a:r>
              <a:rPr lang="en-US" sz="1500" dirty="0"/>
              <a:t>The Flask API analyzes the text using </a:t>
            </a:r>
            <a:r>
              <a:rPr lang="en-US" sz="1500" dirty="0" err="1"/>
              <a:t>TextBlob</a:t>
            </a:r>
            <a:r>
              <a:rPr lang="en-US" sz="1500" dirty="0"/>
              <a:t> to calculate polarity (−1 to +1).</a:t>
            </a:r>
          </a:p>
          <a:p>
            <a:r>
              <a:rPr lang="en-US" sz="1500" dirty="0"/>
              <a:t>The calculated polarity is converted into a sentiment category (Positive, Neutral, or Negative).</a:t>
            </a:r>
          </a:p>
          <a:p>
            <a:r>
              <a:rPr lang="en-US" sz="1500" dirty="0"/>
              <a:t>The API sends the sentiment result back to the web application for display.</a:t>
            </a:r>
          </a:p>
          <a:p>
            <a:pPr marL="0" indent="0">
              <a:buNone/>
            </a:pPr>
            <a:endParaRPr lang="en-IN" dirty="0"/>
          </a:p>
        </p:txBody>
      </p:sp>
      <p:pic>
        <p:nvPicPr>
          <p:cNvPr id="4" name="Picture 3">
            <a:extLst>
              <a:ext uri="{FF2B5EF4-FFF2-40B4-BE49-F238E27FC236}">
                <a16:creationId xmlns:a16="http://schemas.microsoft.com/office/drawing/2014/main" id="{5A5BDC33-9516-4DFF-8162-9262570034E4}"/>
              </a:ext>
            </a:extLst>
          </p:cNvPr>
          <p:cNvPicPr>
            <a:picLocks noChangeAspect="1"/>
          </p:cNvPicPr>
          <p:nvPr/>
        </p:nvPicPr>
        <p:blipFill>
          <a:blip r:embed="rId2"/>
          <a:stretch>
            <a:fillRect/>
          </a:stretch>
        </p:blipFill>
        <p:spPr>
          <a:xfrm>
            <a:off x="8504808" y="1793289"/>
            <a:ext cx="2555920" cy="4243527"/>
          </a:xfrm>
          <a:prstGeom prst="rect">
            <a:avLst/>
          </a:prstGeom>
        </p:spPr>
      </p:pic>
    </p:spTree>
    <p:extLst>
      <p:ext uri="{BB962C8B-B14F-4D97-AF65-F5344CB8AC3E}">
        <p14:creationId xmlns:p14="http://schemas.microsoft.com/office/powerpoint/2010/main" val="221511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62CA7-55A2-456F-A926-4AAD9655ECFF}"/>
              </a:ext>
            </a:extLst>
          </p:cNvPr>
          <p:cNvSpPr>
            <a:spLocks noGrp="1"/>
          </p:cNvSpPr>
          <p:nvPr>
            <p:ph type="title"/>
          </p:nvPr>
        </p:nvSpPr>
        <p:spPr>
          <a:xfrm>
            <a:off x="2592925" y="781234"/>
            <a:ext cx="8911687" cy="1123765"/>
          </a:xfrm>
        </p:spPr>
        <p:txBody>
          <a:bodyPr/>
          <a:lstStyle/>
          <a:p>
            <a:r>
              <a:rPr lang="en-US" b="1" dirty="0">
                <a:latin typeface="Times New Roman" panose="02020603050405020304" pitchFamily="18" charset="0"/>
                <a:cs typeface="Times New Roman" panose="02020603050405020304" pitchFamily="18" charset="0"/>
              </a:rPr>
              <a:t>DATASET &amp; METHADOLOGY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194759-3A66-4671-BF92-DB952901D496}"/>
              </a:ext>
            </a:extLst>
          </p:cNvPr>
          <p:cNvSpPr>
            <a:spLocks noGrp="1"/>
          </p:cNvSpPr>
          <p:nvPr>
            <p:ph idx="1"/>
          </p:nvPr>
        </p:nvSpPr>
        <p:spPr>
          <a:xfrm>
            <a:off x="2589212" y="1624613"/>
            <a:ext cx="7717763" cy="4527611"/>
          </a:xfrm>
        </p:spPr>
        <p:txBody>
          <a:bodyPr>
            <a:normAutofit fontScale="85000" lnSpcReduction="10000"/>
          </a:bodyPr>
          <a:lstStyle/>
          <a:p>
            <a:pPr marL="0" indent="0">
              <a:buNone/>
            </a:pPr>
            <a:r>
              <a:rPr lang="en-US" sz="1900" b="1" dirty="0">
                <a:latin typeface="Times New Roman" panose="02020603050405020304" pitchFamily="18" charset="0"/>
                <a:cs typeface="Times New Roman" panose="02020603050405020304" pitchFamily="18" charset="0"/>
              </a:rPr>
              <a:t>Dataset:</a:t>
            </a:r>
            <a:endParaRPr lang="en-IN" sz="19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Smartwatch_genai.csv(</a:t>
            </a:r>
            <a:r>
              <a:rPr lang="en-IN" dirty="0">
                <a:latin typeface="Times New Roman" panose="02020603050405020304" pitchFamily="18" charset="0"/>
                <a:cs typeface="Times New Roman" panose="02020603050405020304" pitchFamily="18" charset="0"/>
              </a:rPr>
              <a:t>1,597+ customer reviews)</a:t>
            </a:r>
          </a:p>
          <a:p>
            <a:r>
              <a:rPr lang="en-US" dirty="0">
                <a:latin typeface="Times New Roman" panose="02020603050405020304" pitchFamily="18" charset="0"/>
                <a:cs typeface="Times New Roman" panose="02020603050405020304" pitchFamily="18" charset="0"/>
              </a:rPr>
              <a:t>This dataset provides </a:t>
            </a:r>
            <a:r>
              <a:rPr lang="en-US" b="1" dirty="0">
                <a:latin typeface="Times New Roman" panose="02020603050405020304" pitchFamily="18" charset="0"/>
                <a:cs typeface="Times New Roman" panose="02020603050405020304" pitchFamily="18" charset="0"/>
              </a:rPr>
              <a:t>27 features</a:t>
            </a:r>
            <a:r>
              <a:rPr lang="en-US" dirty="0">
                <a:latin typeface="Times New Roman" panose="02020603050405020304" pitchFamily="18" charset="0"/>
                <a:cs typeface="Times New Roman" panose="02020603050405020304" pitchFamily="18" charset="0"/>
              </a:rPr>
              <a:t>, including product brand, categories, dimensions-allowing both product-level and review-level analysis.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dataset includes detailed review texts, ratings, and titles, making it suitable for </a:t>
            </a:r>
            <a:r>
              <a:rPr lang="en-US" b="1" dirty="0">
                <a:latin typeface="Times New Roman" panose="02020603050405020304" pitchFamily="18" charset="0"/>
                <a:cs typeface="Times New Roman" panose="02020603050405020304" pitchFamily="18" charset="0"/>
              </a:rPr>
              <a:t>sentiment analysis, opinion mining, and customer feedback analytics</a:t>
            </a:r>
            <a:r>
              <a:rPr lang="en-US" dirty="0">
                <a:latin typeface="Times New Roman" panose="02020603050405020304" pitchFamily="18" charset="0"/>
                <a:cs typeface="Times New Roman" panose="02020603050405020304" pitchFamily="18" charset="0"/>
              </a:rPr>
              <a:t> for smartwatch products.</a:t>
            </a:r>
            <a:endParaRPr lang="en-IN" dirty="0">
              <a:latin typeface="Times New Roman" panose="02020603050405020304" pitchFamily="18" charset="0"/>
              <a:cs typeface="Times New Roman" panose="02020603050405020304" pitchFamily="18" charset="0"/>
            </a:endParaRPr>
          </a:p>
          <a:p>
            <a:pPr marL="0" indent="0">
              <a:buNone/>
            </a:pPr>
            <a:r>
              <a:rPr lang="en-IN" sz="1900" b="1" dirty="0">
                <a:latin typeface="Times New Roman" panose="02020603050405020304" pitchFamily="18" charset="0"/>
                <a:cs typeface="Times New Roman" panose="02020603050405020304" pitchFamily="18" charset="0"/>
              </a:rPr>
              <a:t>Methodology:</a:t>
            </a:r>
          </a:p>
          <a:p>
            <a:r>
              <a:rPr lang="en-IN" dirty="0">
                <a:latin typeface="Times New Roman" panose="02020603050405020304" pitchFamily="18" charset="0"/>
                <a:cs typeface="Times New Roman" panose="02020603050405020304" pitchFamily="18" charset="0"/>
              </a:rPr>
              <a:t>Classical ML Models</a:t>
            </a:r>
          </a:p>
          <a:p>
            <a:pPr marL="0" indent="0">
              <a:buNone/>
            </a:pPr>
            <a:r>
              <a:rPr lang="en-IN" dirty="0">
                <a:latin typeface="Times New Roman" panose="02020603050405020304" pitchFamily="18" charset="0"/>
                <a:cs typeface="Times New Roman" panose="02020603050405020304" pitchFamily="18" charset="0"/>
              </a:rPr>
              <a:t> Logistic Regression, Random Forest, SVM, etc.</a:t>
            </a:r>
          </a:p>
          <a:p>
            <a:pPr marL="0" indent="0">
              <a:buNone/>
            </a:pPr>
            <a:r>
              <a:rPr lang="en-IN" dirty="0">
                <a:latin typeface="Times New Roman" panose="02020603050405020304" pitchFamily="18" charset="0"/>
                <a:cs typeface="Times New Roman" panose="02020603050405020304" pitchFamily="18" charset="0"/>
              </a:rPr>
              <a:t>Result: &lt;50% accuracy</a:t>
            </a:r>
          </a:p>
          <a:p>
            <a:r>
              <a:rPr lang="en-IN" dirty="0">
                <a:latin typeface="Times New Roman" panose="02020603050405020304" pitchFamily="18" charset="0"/>
                <a:cs typeface="Times New Roman" panose="02020603050405020304" pitchFamily="18" charset="0"/>
              </a:rPr>
              <a:t>Apply TextBlob sentiment polarity</a:t>
            </a:r>
          </a:p>
          <a:p>
            <a:pPr marL="0" indent="0">
              <a:buNone/>
            </a:pPr>
            <a:r>
              <a:rPr lang="en-IN" dirty="0">
                <a:latin typeface="Times New Roman" panose="02020603050405020304" pitchFamily="18" charset="0"/>
                <a:cs typeface="Times New Roman" panose="02020603050405020304" pitchFamily="18" charset="0"/>
              </a:rPr>
              <a:t>Polarity &gt; 0 → Positive</a:t>
            </a:r>
          </a:p>
          <a:p>
            <a:pPr marL="0" indent="0">
              <a:buNone/>
            </a:pPr>
            <a:r>
              <a:rPr lang="en-IN" dirty="0">
                <a:latin typeface="Times New Roman" panose="02020603050405020304" pitchFamily="18" charset="0"/>
                <a:cs typeface="Times New Roman" panose="02020603050405020304" pitchFamily="18" charset="0"/>
              </a:rPr>
              <a:t> Polarity &lt; 0 → Negative</a:t>
            </a:r>
          </a:p>
          <a:p>
            <a:pPr marL="0" indent="0">
              <a:buNone/>
            </a:pPr>
            <a:r>
              <a:rPr lang="en-IN" dirty="0">
                <a:latin typeface="Times New Roman" panose="02020603050405020304" pitchFamily="18" charset="0"/>
                <a:cs typeface="Times New Roman" panose="02020603050405020304" pitchFamily="18" charset="0"/>
              </a:rPr>
              <a:t> Polarity = 0 → Neutral</a:t>
            </a:r>
          </a:p>
        </p:txBody>
      </p:sp>
    </p:spTree>
    <p:extLst>
      <p:ext uri="{BB962C8B-B14F-4D97-AF65-F5344CB8AC3E}">
        <p14:creationId xmlns:p14="http://schemas.microsoft.com/office/powerpoint/2010/main" val="136317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E296-5BDE-43AA-8962-16C99866B522}"/>
              </a:ext>
            </a:extLst>
          </p:cNvPr>
          <p:cNvSpPr>
            <a:spLocks noGrp="1"/>
          </p:cNvSpPr>
          <p:nvPr>
            <p:ph type="title"/>
          </p:nvPr>
        </p:nvSpPr>
        <p:spPr>
          <a:xfrm>
            <a:off x="2592925" y="946778"/>
            <a:ext cx="8911687" cy="958222"/>
          </a:xfrm>
        </p:spPr>
        <p:txBody>
          <a:bodyPr/>
          <a:lstStyle/>
          <a:p>
            <a:r>
              <a:rPr lang="en-US" b="1" dirty="0">
                <a:latin typeface="Times New Roman" panose="02020603050405020304" pitchFamily="18" charset="0"/>
                <a:cs typeface="Times New Roman" panose="02020603050405020304" pitchFamily="18" charset="0"/>
              </a:rPr>
              <a:t>TECHNOLOGIES USED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133862-9C77-467B-908B-4EB58A7F389A}"/>
              </a:ext>
            </a:extLst>
          </p:cNvPr>
          <p:cNvSpPr>
            <a:spLocks noGrp="1"/>
          </p:cNvSpPr>
          <p:nvPr>
            <p:ph idx="1"/>
          </p:nvPr>
        </p:nvSpPr>
        <p:spPr/>
        <p:txBody>
          <a:bodyPr>
            <a:normAutofit fontScale="85000" lnSpcReduction="20000"/>
          </a:bodyPr>
          <a:lstStyle/>
          <a:p>
            <a:r>
              <a:rPr lang="en-US" b="1" dirty="0"/>
              <a:t>Flask</a:t>
            </a:r>
          </a:p>
          <a:p>
            <a:pPr marL="0" indent="0">
              <a:buNone/>
            </a:pPr>
            <a:r>
              <a:rPr lang="en-US" dirty="0">
                <a:latin typeface="Times New Roman" panose="02020603050405020304" pitchFamily="18" charset="0"/>
                <a:cs typeface="Times New Roman" panose="02020603050405020304" pitchFamily="18" charset="0"/>
              </a:rPr>
              <a:t>Flask is a lightweight Python web framework that enables rapid development of web applications and RESTful APIs..</a:t>
            </a:r>
          </a:p>
          <a:p>
            <a:r>
              <a:rPr lang="en-IN" b="1" dirty="0">
                <a:latin typeface="Times New Roman" panose="02020603050405020304" pitchFamily="18" charset="0"/>
                <a:cs typeface="Times New Roman" panose="02020603050405020304" pitchFamily="18" charset="0"/>
              </a:rPr>
              <a:t>TextBlob</a:t>
            </a:r>
          </a:p>
          <a:p>
            <a:pPr marL="0" indent="0">
              <a:buNone/>
            </a:pPr>
            <a:r>
              <a:rPr lang="en-US" dirty="0">
                <a:latin typeface="Times New Roman" panose="02020603050405020304" pitchFamily="18" charset="0"/>
                <a:cs typeface="Times New Roman" panose="02020603050405020304" pitchFamily="18" charset="0"/>
              </a:rPr>
              <a:t>Used for:</a:t>
            </a:r>
          </a:p>
          <a:p>
            <a:pPr marL="0" indent="0">
              <a:buNone/>
            </a:pPr>
            <a:r>
              <a:rPr lang="en-US" dirty="0">
                <a:latin typeface="Times New Roman" panose="02020603050405020304" pitchFamily="18" charset="0"/>
                <a:cs typeface="Times New Roman" panose="02020603050405020304" pitchFamily="18" charset="0"/>
              </a:rPr>
              <a:t>Sentiment polarity calculation</a:t>
            </a:r>
          </a:p>
          <a:p>
            <a:pPr marL="0" indent="0">
              <a:buNone/>
            </a:pPr>
            <a:r>
              <a:rPr lang="en-US" dirty="0">
                <a:latin typeface="Times New Roman" panose="02020603050405020304" pitchFamily="18" charset="0"/>
                <a:cs typeface="Times New Roman" panose="02020603050405020304" pitchFamily="18" charset="0"/>
              </a:rPr>
              <a:t>Sentence detection</a:t>
            </a:r>
          </a:p>
          <a:p>
            <a:pPr marL="0" indent="0">
              <a:buNone/>
            </a:pPr>
            <a:r>
              <a:rPr lang="en-US" dirty="0">
                <a:latin typeface="Times New Roman" panose="02020603050405020304" pitchFamily="18" charset="0"/>
                <a:cs typeface="Times New Roman" panose="02020603050405020304" pitchFamily="18" charset="0"/>
              </a:rPr>
              <a:t>Classification into positive/negative/neutral.</a:t>
            </a:r>
          </a:p>
          <a:p>
            <a:r>
              <a:rPr lang="en-IN" b="1" dirty="0">
                <a:latin typeface="Times New Roman" panose="02020603050405020304" pitchFamily="18" charset="0"/>
                <a:cs typeface="Times New Roman" panose="02020603050405020304" pitchFamily="18" charset="0"/>
              </a:rPr>
              <a:t>Python</a:t>
            </a:r>
            <a:endParaRPr lang="en-US"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Python is a versatile programming language for data analysis.</a:t>
            </a:r>
          </a:p>
          <a:p>
            <a:r>
              <a:rPr lang="en-IN" b="1" dirty="0">
                <a:latin typeface="Times New Roman" panose="02020603050405020304" pitchFamily="18" charset="0"/>
                <a:cs typeface="Times New Roman" panose="02020603050405020304" pitchFamily="18" charset="0"/>
              </a:rPr>
              <a:t>VS Code</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Integrated Development Environments streamline coding and debugging processes.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9043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BFDEBE4-6D0B-4E32-A69A-1079C7FEFC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3" name="Freeform 11">
              <a:extLst>
                <a:ext uri="{FF2B5EF4-FFF2-40B4-BE49-F238E27FC236}">
                  <a16:creationId xmlns:a16="http://schemas.microsoft.com/office/drawing/2014/main" id="{FB518B7F-CF48-433C-AA57-157C34E0A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14" name="Freeform 12">
              <a:extLst>
                <a:ext uri="{FF2B5EF4-FFF2-40B4-BE49-F238E27FC236}">
                  <a16:creationId xmlns:a16="http://schemas.microsoft.com/office/drawing/2014/main" id="{FB9EFC3A-D719-4FB9-87E7-57474CF378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15" name="Freeform 13">
              <a:extLst>
                <a:ext uri="{FF2B5EF4-FFF2-40B4-BE49-F238E27FC236}">
                  <a16:creationId xmlns:a16="http://schemas.microsoft.com/office/drawing/2014/main" id="{769DD491-3671-490F-9667-07966605E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16" name="Freeform 14">
              <a:extLst>
                <a:ext uri="{FF2B5EF4-FFF2-40B4-BE49-F238E27FC236}">
                  <a16:creationId xmlns:a16="http://schemas.microsoft.com/office/drawing/2014/main" id="{413D25D0-2024-4EDB-89BC-FA05840FC4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17" name="Freeform 15">
              <a:extLst>
                <a:ext uri="{FF2B5EF4-FFF2-40B4-BE49-F238E27FC236}">
                  <a16:creationId xmlns:a16="http://schemas.microsoft.com/office/drawing/2014/main" id="{A78977A8-2616-4955-9EEA-492AF32729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18" name="Freeform 16">
              <a:extLst>
                <a:ext uri="{FF2B5EF4-FFF2-40B4-BE49-F238E27FC236}">
                  <a16:creationId xmlns:a16="http://schemas.microsoft.com/office/drawing/2014/main" id="{78792ECD-F490-4F4E-8689-08022983B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19" name="Freeform 17">
              <a:extLst>
                <a:ext uri="{FF2B5EF4-FFF2-40B4-BE49-F238E27FC236}">
                  <a16:creationId xmlns:a16="http://schemas.microsoft.com/office/drawing/2014/main" id="{DAD6871B-0976-4ED8-A9FD-F7991F8AE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20" name="Freeform 18">
              <a:extLst>
                <a:ext uri="{FF2B5EF4-FFF2-40B4-BE49-F238E27FC236}">
                  <a16:creationId xmlns:a16="http://schemas.microsoft.com/office/drawing/2014/main" id="{777FAA8B-359C-4F5E-820A-E288A290B0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21" name="Freeform 19">
              <a:extLst>
                <a:ext uri="{FF2B5EF4-FFF2-40B4-BE49-F238E27FC236}">
                  <a16:creationId xmlns:a16="http://schemas.microsoft.com/office/drawing/2014/main" id="{99321D8C-E7E5-414A-9567-99134586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22" name="Freeform 20">
              <a:extLst>
                <a:ext uri="{FF2B5EF4-FFF2-40B4-BE49-F238E27FC236}">
                  <a16:creationId xmlns:a16="http://schemas.microsoft.com/office/drawing/2014/main" id="{51561177-2C59-4E28-A7B2-FA020FC6B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23" name="Freeform 21">
              <a:extLst>
                <a:ext uri="{FF2B5EF4-FFF2-40B4-BE49-F238E27FC236}">
                  <a16:creationId xmlns:a16="http://schemas.microsoft.com/office/drawing/2014/main" id="{CA379383-3FCE-468C-BE8C-F7A0AC443B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24" name="Freeform 22">
              <a:extLst>
                <a:ext uri="{FF2B5EF4-FFF2-40B4-BE49-F238E27FC236}">
                  <a16:creationId xmlns:a16="http://schemas.microsoft.com/office/drawing/2014/main" id="{600C78B7-5559-45D1-8AE1-D738BD5F6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26" name="Group 25">
            <a:extLst>
              <a:ext uri="{FF2B5EF4-FFF2-40B4-BE49-F238E27FC236}">
                <a16:creationId xmlns:a16="http://schemas.microsoft.com/office/drawing/2014/main" id="{5FFD28A6-B7DD-492C-9E44-04298154A6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157"/>
            <a:ext cx="2356675" cy="6853096"/>
            <a:chOff x="6627813" y="195610"/>
            <a:chExt cx="1952625" cy="5678141"/>
          </a:xfrm>
        </p:grpSpPr>
        <p:sp>
          <p:nvSpPr>
            <p:cNvPr id="27" name="Freeform 27">
              <a:extLst>
                <a:ext uri="{FF2B5EF4-FFF2-40B4-BE49-F238E27FC236}">
                  <a16:creationId xmlns:a16="http://schemas.microsoft.com/office/drawing/2014/main" id="{92DEDB78-8E53-46D3-B73D-7295C24312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28" name="Freeform 28">
              <a:extLst>
                <a:ext uri="{FF2B5EF4-FFF2-40B4-BE49-F238E27FC236}">
                  <a16:creationId xmlns:a16="http://schemas.microsoft.com/office/drawing/2014/main" id="{9ADA7734-AC5B-484F-B69D-5BDD9FC16D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29" name="Freeform 29">
              <a:extLst>
                <a:ext uri="{FF2B5EF4-FFF2-40B4-BE49-F238E27FC236}">
                  <a16:creationId xmlns:a16="http://schemas.microsoft.com/office/drawing/2014/main" id="{33FC58F8-ABC3-4351-A1A0-42D73D3A3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30" name="Freeform 30">
              <a:extLst>
                <a:ext uri="{FF2B5EF4-FFF2-40B4-BE49-F238E27FC236}">
                  <a16:creationId xmlns:a16="http://schemas.microsoft.com/office/drawing/2014/main" id="{DA14CDF0-30C6-412F-9A45-97B22D911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31" name="Freeform 31">
              <a:extLst>
                <a:ext uri="{FF2B5EF4-FFF2-40B4-BE49-F238E27FC236}">
                  <a16:creationId xmlns:a16="http://schemas.microsoft.com/office/drawing/2014/main" id="{86C395E9-5522-4CCC-84DA-CEDB0DFBE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32" name="Freeform 32">
              <a:extLst>
                <a:ext uri="{FF2B5EF4-FFF2-40B4-BE49-F238E27FC236}">
                  <a16:creationId xmlns:a16="http://schemas.microsoft.com/office/drawing/2014/main" id="{C7521959-0DFD-4BD9-A1F6-2045C0FEBC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33" name="Freeform 33">
              <a:extLst>
                <a:ext uri="{FF2B5EF4-FFF2-40B4-BE49-F238E27FC236}">
                  <a16:creationId xmlns:a16="http://schemas.microsoft.com/office/drawing/2014/main" id="{2A6FFD27-E352-40A7-A517-F6A6E5BE6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34" name="Freeform 34">
              <a:extLst>
                <a:ext uri="{FF2B5EF4-FFF2-40B4-BE49-F238E27FC236}">
                  <a16:creationId xmlns:a16="http://schemas.microsoft.com/office/drawing/2014/main" id="{F3D6C508-E830-43F2-A588-D0E739753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35" name="Freeform 35">
              <a:extLst>
                <a:ext uri="{FF2B5EF4-FFF2-40B4-BE49-F238E27FC236}">
                  <a16:creationId xmlns:a16="http://schemas.microsoft.com/office/drawing/2014/main" id="{3C7FB8AA-F34F-4A6D-BFD9-1AC5FEF68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36" name="Freeform 36">
              <a:extLst>
                <a:ext uri="{FF2B5EF4-FFF2-40B4-BE49-F238E27FC236}">
                  <a16:creationId xmlns:a16="http://schemas.microsoft.com/office/drawing/2014/main" id="{30475DE6-8AFA-4C6C-9A13-529845D4E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37" name="Freeform 37">
              <a:extLst>
                <a:ext uri="{FF2B5EF4-FFF2-40B4-BE49-F238E27FC236}">
                  <a16:creationId xmlns:a16="http://schemas.microsoft.com/office/drawing/2014/main" id="{5DA0DA49-B8A7-4D74-B566-415AF761A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38" name="Freeform 38">
              <a:extLst>
                <a:ext uri="{FF2B5EF4-FFF2-40B4-BE49-F238E27FC236}">
                  <a16:creationId xmlns:a16="http://schemas.microsoft.com/office/drawing/2014/main" id="{F28724B4-2FDD-43D2-9E97-2A7CAC846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40" name="Rectangle 39">
            <a:extLst>
              <a:ext uri="{FF2B5EF4-FFF2-40B4-BE49-F238E27FC236}">
                <a16:creationId xmlns:a16="http://schemas.microsoft.com/office/drawing/2014/main" id="{1AA71026-F7BC-4FE2-AE4B-AAF2AD4F0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2" name="Freeform 6">
            <a:extLst>
              <a:ext uri="{FF2B5EF4-FFF2-40B4-BE49-F238E27FC236}">
                <a16:creationId xmlns:a16="http://schemas.microsoft.com/office/drawing/2014/main" id="{FEBEBF89-2FC1-49E2-9E54-44A210A25E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useBgFill="1">
        <p:nvSpPr>
          <p:cNvPr id="44" name="Rectangle 43">
            <a:extLst>
              <a:ext uri="{FF2B5EF4-FFF2-40B4-BE49-F238E27FC236}">
                <a16:creationId xmlns:a16="http://schemas.microsoft.com/office/drawing/2014/main" id="{C23A7B0A-0F1C-4EAF-BFA0-7FA5BC1AC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A215047-F198-43B3-B6E8-C96486ADE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4135"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48" name="Group 47">
            <a:extLst>
              <a:ext uri="{FF2B5EF4-FFF2-40B4-BE49-F238E27FC236}">
                <a16:creationId xmlns:a16="http://schemas.microsoft.com/office/drawing/2014/main" id="{D1841094-9BF6-4CBE-A29C-0C64264060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87364" y="228600"/>
            <a:ext cx="2851523" cy="6638625"/>
            <a:chOff x="2487613" y="285750"/>
            <a:chExt cx="2428875" cy="5654676"/>
          </a:xfrm>
        </p:grpSpPr>
        <p:sp>
          <p:nvSpPr>
            <p:cNvPr id="49" name="Freeform 11">
              <a:extLst>
                <a:ext uri="{FF2B5EF4-FFF2-40B4-BE49-F238E27FC236}">
                  <a16:creationId xmlns:a16="http://schemas.microsoft.com/office/drawing/2014/main" id="{3C0C10A8-D149-4BEA-8A0A-1CE03F6BC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50" name="Freeform 12">
              <a:extLst>
                <a:ext uri="{FF2B5EF4-FFF2-40B4-BE49-F238E27FC236}">
                  <a16:creationId xmlns:a16="http://schemas.microsoft.com/office/drawing/2014/main" id="{0F0ACA56-D9FA-478C-AE7A-3D16B62E9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51" name="Freeform 13">
              <a:extLst>
                <a:ext uri="{FF2B5EF4-FFF2-40B4-BE49-F238E27FC236}">
                  <a16:creationId xmlns:a16="http://schemas.microsoft.com/office/drawing/2014/main" id="{DD6759D4-886F-470F-ABAD-8F48ECE2F5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52" name="Freeform 14">
              <a:extLst>
                <a:ext uri="{FF2B5EF4-FFF2-40B4-BE49-F238E27FC236}">
                  <a16:creationId xmlns:a16="http://schemas.microsoft.com/office/drawing/2014/main" id="{E1B2725C-31BD-4662-BB2E-54FB92C47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53" name="Freeform 15">
              <a:extLst>
                <a:ext uri="{FF2B5EF4-FFF2-40B4-BE49-F238E27FC236}">
                  <a16:creationId xmlns:a16="http://schemas.microsoft.com/office/drawing/2014/main" id="{E754953B-576D-471E-9EF2-ED7B7D0DA3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54" name="Freeform 16">
              <a:extLst>
                <a:ext uri="{FF2B5EF4-FFF2-40B4-BE49-F238E27FC236}">
                  <a16:creationId xmlns:a16="http://schemas.microsoft.com/office/drawing/2014/main" id="{33DA6EC0-0C98-4E39-8F7E-6CCAF2E26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55" name="Freeform 17">
              <a:extLst>
                <a:ext uri="{FF2B5EF4-FFF2-40B4-BE49-F238E27FC236}">
                  <a16:creationId xmlns:a16="http://schemas.microsoft.com/office/drawing/2014/main" id="{1D0D064D-3E5B-4E63-B20C-E84DC6844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56" name="Freeform 18">
              <a:extLst>
                <a:ext uri="{FF2B5EF4-FFF2-40B4-BE49-F238E27FC236}">
                  <a16:creationId xmlns:a16="http://schemas.microsoft.com/office/drawing/2014/main" id="{B8EE5347-1F71-4E76-A530-ABEB6457E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57" name="Freeform 19">
              <a:extLst>
                <a:ext uri="{FF2B5EF4-FFF2-40B4-BE49-F238E27FC236}">
                  <a16:creationId xmlns:a16="http://schemas.microsoft.com/office/drawing/2014/main" id="{A73CFBAA-98B4-4CB5-A58A-FB8B57F7E9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58" name="Freeform 20">
              <a:extLst>
                <a:ext uri="{FF2B5EF4-FFF2-40B4-BE49-F238E27FC236}">
                  <a16:creationId xmlns:a16="http://schemas.microsoft.com/office/drawing/2014/main" id="{2D71EFD0-E831-4DB2-AAE6-53CAC848A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59" name="Freeform 21">
              <a:extLst>
                <a:ext uri="{FF2B5EF4-FFF2-40B4-BE49-F238E27FC236}">
                  <a16:creationId xmlns:a16="http://schemas.microsoft.com/office/drawing/2014/main" id="{1CD54E7B-F9E7-4AE8-8653-9AF0C08485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60" name="Freeform 22">
              <a:extLst>
                <a:ext uri="{FF2B5EF4-FFF2-40B4-BE49-F238E27FC236}">
                  <a16:creationId xmlns:a16="http://schemas.microsoft.com/office/drawing/2014/main" id="{DBE4EDA7-5C49-41C5-BE5C-E9FEA97DD5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62" name="Group 61">
            <a:extLst>
              <a:ext uri="{FF2B5EF4-FFF2-40B4-BE49-F238E27FC236}">
                <a16:creationId xmlns:a16="http://schemas.microsoft.com/office/drawing/2014/main" id="{E5670591-9C80-49E0-96D8-511CA82D68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14579" y="-786"/>
            <a:ext cx="2356675" cy="6854040"/>
            <a:chOff x="6627813" y="194833"/>
            <a:chExt cx="1952625" cy="5678918"/>
          </a:xfrm>
        </p:grpSpPr>
        <p:sp>
          <p:nvSpPr>
            <p:cNvPr id="63" name="Freeform 27">
              <a:extLst>
                <a:ext uri="{FF2B5EF4-FFF2-40B4-BE49-F238E27FC236}">
                  <a16:creationId xmlns:a16="http://schemas.microsoft.com/office/drawing/2014/main" id="{5F37B0E0-F37E-4B23-BB32-C5D073756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64" name="Freeform 28">
              <a:extLst>
                <a:ext uri="{FF2B5EF4-FFF2-40B4-BE49-F238E27FC236}">
                  <a16:creationId xmlns:a16="http://schemas.microsoft.com/office/drawing/2014/main" id="{9D1EA4A0-D4F7-409D-8E15-F955CD6B7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65" name="Freeform 29">
              <a:extLst>
                <a:ext uri="{FF2B5EF4-FFF2-40B4-BE49-F238E27FC236}">
                  <a16:creationId xmlns:a16="http://schemas.microsoft.com/office/drawing/2014/main" id="{3DADF27F-0B6D-42F1-985E-468BC937A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66" name="Freeform 30">
              <a:extLst>
                <a:ext uri="{FF2B5EF4-FFF2-40B4-BE49-F238E27FC236}">
                  <a16:creationId xmlns:a16="http://schemas.microsoft.com/office/drawing/2014/main" id="{4FF12288-494B-4A78-9B41-CB42F811D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67" name="Freeform 31">
              <a:extLst>
                <a:ext uri="{FF2B5EF4-FFF2-40B4-BE49-F238E27FC236}">
                  <a16:creationId xmlns:a16="http://schemas.microsoft.com/office/drawing/2014/main" id="{23BD44B1-5F57-4670-8EB0-A09361BA9B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68" name="Freeform 32">
              <a:extLst>
                <a:ext uri="{FF2B5EF4-FFF2-40B4-BE49-F238E27FC236}">
                  <a16:creationId xmlns:a16="http://schemas.microsoft.com/office/drawing/2014/main" id="{855D5DA1-A2D9-4696-93B2-E6069AF8CD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69" name="Freeform 33">
              <a:extLst>
                <a:ext uri="{FF2B5EF4-FFF2-40B4-BE49-F238E27FC236}">
                  <a16:creationId xmlns:a16="http://schemas.microsoft.com/office/drawing/2014/main" id="{5E24ACB1-17DE-4CEE-A81D-41DC37C9DB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70" name="Freeform 34">
              <a:extLst>
                <a:ext uri="{FF2B5EF4-FFF2-40B4-BE49-F238E27FC236}">
                  <a16:creationId xmlns:a16="http://schemas.microsoft.com/office/drawing/2014/main" id="{E17BFEAA-7EB2-45CB-AFBF-C2061B34ED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71" name="Freeform 35">
              <a:extLst>
                <a:ext uri="{FF2B5EF4-FFF2-40B4-BE49-F238E27FC236}">
                  <a16:creationId xmlns:a16="http://schemas.microsoft.com/office/drawing/2014/main" id="{D0EE7BCB-7DC4-4672-956A-B7CAB6D5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72" name="Freeform 36">
              <a:extLst>
                <a:ext uri="{FF2B5EF4-FFF2-40B4-BE49-F238E27FC236}">
                  <a16:creationId xmlns:a16="http://schemas.microsoft.com/office/drawing/2014/main" id="{EDC042FC-FB31-494D-8460-661137F682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73" name="Freeform 37">
              <a:extLst>
                <a:ext uri="{FF2B5EF4-FFF2-40B4-BE49-F238E27FC236}">
                  <a16:creationId xmlns:a16="http://schemas.microsoft.com/office/drawing/2014/main" id="{3BDDDF1E-5EE2-43D5-A2B8-AC425E4FF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74" name="Freeform 38">
              <a:extLst>
                <a:ext uri="{FF2B5EF4-FFF2-40B4-BE49-F238E27FC236}">
                  <a16:creationId xmlns:a16="http://schemas.microsoft.com/office/drawing/2014/main" id="{934CE8FC-5EE9-4594-82BE-73F8F7D7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2" name="Title 1">
            <a:extLst>
              <a:ext uri="{FF2B5EF4-FFF2-40B4-BE49-F238E27FC236}">
                <a16:creationId xmlns:a16="http://schemas.microsoft.com/office/drawing/2014/main" id="{35B92D65-047E-47B6-A316-4B00235D2D88}"/>
              </a:ext>
            </a:extLst>
          </p:cNvPr>
          <p:cNvSpPr>
            <a:spLocks noGrp="1"/>
          </p:cNvSpPr>
          <p:nvPr>
            <p:ph type="title"/>
          </p:nvPr>
        </p:nvSpPr>
        <p:spPr>
          <a:xfrm>
            <a:off x="8324602" y="935646"/>
            <a:ext cx="3181597" cy="3841735"/>
          </a:xfrm>
        </p:spPr>
        <p:txBody>
          <a:bodyPr vert="horz" lIns="91440" tIns="45720" rIns="91440" bIns="45720" rtlCol="0" anchor="b">
            <a:normAutofit/>
          </a:bodyPr>
          <a:lstStyle/>
          <a:p>
            <a:r>
              <a:rPr lang="en-US" sz="4400" b="1"/>
              <a:t>RESULTS &amp; FINDINGS </a:t>
            </a:r>
          </a:p>
        </p:txBody>
      </p:sp>
      <p:sp>
        <p:nvSpPr>
          <p:cNvPr id="76" name="Rectangle 75">
            <a:extLst>
              <a:ext uri="{FF2B5EF4-FFF2-40B4-BE49-F238E27FC236}">
                <a16:creationId xmlns:a16="http://schemas.microsoft.com/office/drawing/2014/main" id="{DB0C0CA5-D8A9-4E33-B584-5FE13E508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848" y="962669"/>
            <a:ext cx="2322898" cy="2386816"/>
          </a:xfrm>
          <a:prstGeom prst="rect">
            <a:avLst/>
          </a:prstGeom>
          <a:solidFill>
            <a:srgbClr val="FFFFFE"/>
          </a:solidFill>
          <a:ln w="1270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login screen&#10;&#10;AI-generated content may be incorrect.">
            <a:extLst>
              <a:ext uri="{FF2B5EF4-FFF2-40B4-BE49-F238E27FC236}">
                <a16:creationId xmlns:a16="http://schemas.microsoft.com/office/drawing/2014/main" id="{53A1C30B-B9FC-87E4-B46A-F8B86CD52784}"/>
              </a:ext>
            </a:extLst>
          </p:cNvPr>
          <p:cNvPicPr>
            <a:picLocks noChangeAspect="1"/>
          </p:cNvPicPr>
          <p:nvPr/>
        </p:nvPicPr>
        <p:blipFill>
          <a:blip r:embed="rId2"/>
          <a:stretch>
            <a:fillRect/>
          </a:stretch>
        </p:blipFill>
        <p:spPr>
          <a:xfrm>
            <a:off x="814601" y="1445931"/>
            <a:ext cx="1993392" cy="1420291"/>
          </a:xfrm>
          <a:prstGeom prst="rect">
            <a:avLst/>
          </a:prstGeom>
        </p:spPr>
      </p:pic>
      <p:sp>
        <p:nvSpPr>
          <p:cNvPr id="78" name="Rectangle 77">
            <a:extLst>
              <a:ext uri="{FF2B5EF4-FFF2-40B4-BE49-F238E27FC236}">
                <a16:creationId xmlns:a16="http://schemas.microsoft.com/office/drawing/2014/main" id="{546664A1-7B5A-46D3-A069-A0BFCF8FD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0714" y="962669"/>
            <a:ext cx="2322898" cy="2386816"/>
          </a:xfrm>
          <a:prstGeom prst="rect">
            <a:avLst/>
          </a:prstGeom>
          <a:solidFill>
            <a:srgbClr val="FFFFFE"/>
          </a:solidFill>
          <a:ln w="1270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532134C-6C83-4EF5-8792-0A1190E01503}"/>
              </a:ext>
            </a:extLst>
          </p:cNvPr>
          <p:cNvPicPr>
            <a:picLocks noChangeAspect="1"/>
          </p:cNvPicPr>
          <p:nvPr/>
        </p:nvPicPr>
        <p:blipFill>
          <a:blip r:embed="rId3"/>
          <a:stretch>
            <a:fillRect/>
          </a:stretch>
        </p:blipFill>
        <p:spPr>
          <a:xfrm>
            <a:off x="3305467" y="1622845"/>
            <a:ext cx="1993392" cy="1066464"/>
          </a:xfrm>
          <a:prstGeom prst="rect">
            <a:avLst/>
          </a:prstGeom>
        </p:spPr>
      </p:pic>
      <p:sp>
        <p:nvSpPr>
          <p:cNvPr id="80" name="Rectangle 79">
            <a:extLst>
              <a:ext uri="{FF2B5EF4-FFF2-40B4-BE49-F238E27FC236}">
                <a16:creationId xmlns:a16="http://schemas.microsoft.com/office/drawing/2014/main" id="{36304841-F492-408E-91E5-3824314E1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848" y="3510354"/>
            <a:ext cx="4813388" cy="2386816"/>
          </a:xfrm>
          <a:prstGeom prst="rect">
            <a:avLst/>
          </a:prstGeom>
          <a:solidFill>
            <a:srgbClr val="FFFFFE"/>
          </a:solidFill>
          <a:ln w="1270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7C9F297-03A8-4B0E-B00A-6052A91C6CD5}"/>
              </a:ext>
            </a:extLst>
          </p:cNvPr>
          <p:cNvPicPr>
            <a:picLocks noChangeAspect="1"/>
          </p:cNvPicPr>
          <p:nvPr/>
        </p:nvPicPr>
        <p:blipFill>
          <a:blip r:embed="rId4"/>
          <a:stretch>
            <a:fillRect/>
          </a:stretch>
        </p:blipFill>
        <p:spPr>
          <a:xfrm>
            <a:off x="814601" y="3767673"/>
            <a:ext cx="4484258" cy="1872177"/>
          </a:xfrm>
          <a:prstGeom prst="rect">
            <a:avLst/>
          </a:prstGeom>
        </p:spPr>
      </p:pic>
      <p:sp>
        <p:nvSpPr>
          <p:cNvPr id="82" name="Rectangle 81">
            <a:extLst>
              <a:ext uri="{FF2B5EF4-FFF2-40B4-BE49-F238E27FC236}">
                <a16:creationId xmlns:a16="http://schemas.microsoft.com/office/drawing/2014/main" id="{926CDC27-6252-4D74-8EE2-83C5E6971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7355"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4" name="Freeform 33">
            <a:extLst>
              <a:ext uri="{FF2B5EF4-FFF2-40B4-BE49-F238E27FC236}">
                <a16:creationId xmlns:a16="http://schemas.microsoft.com/office/drawing/2014/main" id="{B7927CD5-98F9-49E9-80F2-2367C780C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087355"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8" name="TextBox 7">
            <a:extLst>
              <a:ext uri="{FF2B5EF4-FFF2-40B4-BE49-F238E27FC236}">
                <a16:creationId xmlns:a16="http://schemas.microsoft.com/office/drawing/2014/main" id="{78EE60EE-6A30-2B91-FB4E-F4124986F5A7}"/>
              </a:ext>
            </a:extLst>
          </p:cNvPr>
          <p:cNvSpPr txBox="1"/>
          <p:nvPr/>
        </p:nvSpPr>
        <p:spPr>
          <a:xfrm>
            <a:off x="961900" y="1026389"/>
            <a:ext cx="1631936" cy="369332"/>
          </a:xfrm>
          <a:prstGeom prst="rect">
            <a:avLst/>
          </a:prstGeom>
          <a:noFill/>
        </p:spPr>
        <p:txBody>
          <a:bodyPr wrap="square" rtlCol="0">
            <a:spAutoFit/>
          </a:bodyPr>
          <a:lstStyle/>
          <a:p>
            <a:r>
              <a:rPr lang="en-IN" dirty="0"/>
              <a:t>LOGIN PAGE</a:t>
            </a:r>
          </a:p>
        </p:txBody>
      </p:sp>
      <p:sp>
        <p:nvSpPr>
          <p:cNvPr id="9" name="TextBox 8">
            <a:extLst>
              <a:ext uri="{FF2B5EF4-FFF2-40B4-BE49-F238E27FC236}">
                <a16:creationId xmlns:a16="http://schemas.microsoft.com/office/drawing/2014/main" id="{7E036CDA-FBBF-357C-7196-D9511F807AF6}"/>
              </a:ext>
            </a:extLst>
          </p:cNvPr>
          <p:cNvSpPr txBox="1"/>
          <p:nvPr/>
        </p:nvSpPr>
        <p:spPr>
          <a:xfrm>
            <a:off x="3203139" y="1026389"/>
            <a:ext cx="2127505" cy="369332"/>
          </a:xfrm>
          <a:prstGeom prst="rect">
            <a:avLst/>
          </a:prstGeom>
          <a:noFill/>
        </p:spPr>
        <p:txBody>
          <a:bodyPr wrap="none" rtlCol="0">
            <a:spAutoFit/>
          </a:bodyPr>
          <a:lstStyle/>
          <a:p>
            <a:r>
              <a:rPr lang="en-IN" dirty="0"/>
              <a:t>POSITIVE REVIEWS</a:t>
            </a:r>
          </a:p>
        </p:txBody>
      </p:sp>
      <p:sp>
        <p:nvSpPr>
          <p:cNvPr id="10" name="TextBox 9">
            <a:extLst>
              <a:ext uri="{FF2B5EF4-FFF2-40B4-BE49-F238E27FC236}">
                <a16:creationId xmlns:a16="http://schemas.microsoft.com/office/drawing/2014/main" id="{83A0769A-C633-8B13-8CA0-8754A0F7E489}"/>
              </a:ext>
            </a:extLst>
          </p:cNvPr>
          <p:cNvSpPr txBox="1"/>
          <p:nvPr/>
        </p:nvSpPr>
        <p:spPr>
          <a:xfrm>
            <a:off x="1887924" y="3454098"/>
            <a:ext cx="2291012" cy="369332"/>
          </a:xfrm>
          <a:prstGeom prst="rect">
            <a:avLst/>
          </a:prstGeom>
          <a:noFill/>
        </p:spPr>
        <p:txBody>
          <a:bodyPr wrap="none" rtlCol="0">
            <a:spAutoFit/>
          </a:bodyPr>
          <a:lstStyle/>
          <a:p>
            <a:r>
              <a:rPr lang="en-IN" dirty="0"/>
              <a:t>NEGATIVE REVIEWS</a:t>
            </a:r>
          </a:p>
        </p:txBody>
      </p:sp>
    </p:spTree>
    <p:extLst>
      <p:ext uri="{BB962C8B-B14F-4D97-AF65-F5344CB8AC3E}">
        <p14:creationId xmlns:p14="http://schemas.microsoft.com/office/powerpoint/2010/main" val="2778906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28658-1190-41FE-B50D-E29A5D0661C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 &amp; FUTURE SCOPE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436B67-4D74-4EAE-A243-6E5F2575F1C9}"/>
              </a:ext>
            </a:extLst>
          </p:cNvPr>
          <p:cNvSpPr>
            <a:spLocks noGrp="1"/>
          </p:cNvSpPr>
          <p:nvPr>
            <p:ph idx="1"/>
          </p:nvPr>
        </p:nvSpPr>
        <p:spPr>
          <a:xfrm>
            <a:off x="2589212" y="1642369"/>
            <a:ext cx="8915400" cy="4268853"/>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Conclusion:</a:t>
            </a:r>
          </a:p>
          <a:p>
            <a:pPr marL="0" indent="0" algn="just">
              <a:buNone/>
            </a:pPr>
            <a:r>
              <a:rPr lang="en-US" dirty="0">
                <a:latin typeface="Times New Roman" panose="02020603050405020304" pitchFamily="18" charset="0"/>
                <a:cs typeface="Times New Roman" panose="02020603050405020304" pitchFamily="18" charset="0"/>
              </a:rPr>
              <a:t>The Smartwatch Sentiment Analyzer project successfully demonstrates how customer feedback can be transformed into meaningful insights using simple yet powerful tools. By combining Streamlit for an interactive interface and TextBlob for sentiment analysis, the system provides quick and accurate interpretations of customer reviews for the ABC X1 Smartwatch. This enables ABC Company to better understand user opinions, recognize strengths, and identify areas for improvement. Overall, the project highlights the value of sentiment analysis in guiding product enhancement, strengthening customer satisfaction, and supporting informed decision-making in future product development.</a:t>
            </a:r>
          </a:p>
          <a:p>
            <a:pPr marL="0" indent="0">
              <a:buNone/>
            </a:pPr>
            <a:r>
              <a:rPr lang="en-US" b="1" dirty="0">
                <a:latin typeface="Times New Roman" panose="02020603050405020304" pitchFamily="18" charset="0"/>
                <a:cs typeface="Times New Roman" panose="02020603050405020304" pitchFamily="18" charset="0"/>
              </a:rPr>
              <a:t>Future Scope:</a:t>
            </a:r>
          </a:p>
          <a:p>
            <a:r>
              <a:rPr lang="en-US" dirty="0">
                <a:latin typeface="Times New Roman" panose="02020603050405020304" pitchFamily="18" charset="0"/>
                <a:cs typeface="Times New Roman" panose="02020603050405020304" pitchFamily="18" charset="0"/>
              </a:rPr>
              <a:t>Aspect-based sentiment analysis (battery, display, features)</a:t>
            </a:r>
          </a:p>
          <a:p>
            <a:r>
              <a:rPr lang="en-US" dirty="0">
                <a:latin typeface="Times New Roman" panose="02020603050405020304" pitchFamily="18" charset="0"/>
                <a:cs typeface="Times New Roman" panose="02020603050405020304" pitchFamily="18" charset="0"/>
              </a:rPr>
              <a:t>Multi-language support expansion</a:t>
            </a:r>
          </a:p>
          <a:p>
            <a:r>
              <a:rPr lang="en-US" dirty="0">
                <a:latin typeface="Times New Roman" panose="02020603050405020304" pitchFamily="18" charset="0"/>
                <a:cs typeface="Times New Roman" panose="02020603050405020304" pitchFamily="18" charset="0"/>
              </a:rPr>
              <a:t>Real-time dashboard for review monitoring</a:t>
            </a:r>
          </a:p>
          <a:p>
            <a:r>
              <a:rPr lang="en-US" dirty="0">
                <a:latin typeface="Times New Roman" panose="02020603050405020304" pitchFamily="18" charset="0"/>
                <a:cs typeface="Times New Roman" panose="02020603050405020304" pitchFamily="18" charset="0"/>
              </a:rPr>
              <a:t>Integration with customer support systems</a:t>
            </a:r>
          </a:p>
          <a:p>
            <a:r>
              <a:rPr lang="en-US" dirty="0">
                <a:latin typeface="Times New Roman" panose="02020603050405020304" pitchFamily="18" charset="0"/>
                <a:cs typeface="Times New Roman" panose="02020603050405020304" pitchFamily="18" charset="0"/>
              </a:rPr>
              <a:t>Mobile application deployment</a:t>
            </a:r>
          </a:p>
          <a:p>
            <a:pPr marL="0" indent="0">
              <a:buNone/>
            </a:pPr>
            <a:endParaRPr lang="en-IN" b="1" dirty="0"/>
          </a:p>
        </p:txBody>
      </p:sp>
    </p:spTree>
    <p:extLst>
      <p:ext uri="{BB962C8B-B14F-4D97-AF65-F5344CB8AC3E}">
        <p14:creationId xmlns:p14="http://schemas.microsoft.com/office/powerpoint/2010/main" val="137693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67FC-E60C-0B91-D215-0D5985896EA0}"/>
              </a:ext>
            </a:extLst>
          </p:cNvPr>
          <p:cNvSpPr>
            <a:spLocks noGrp="1"/>
          </p:cNvSpPr>
          <p:nvPr>
            <p:ph type="title"/>
          </p:nvPr>
        </p:nvSpPr>
        <p:spPr/>
        <p:txBody>
          <a:bodyPr/>
          <a:lstStyle/>
          <a:p>
            <a:pPr algn="ctr"/>
            <a:r>
              <a:rPr lang="en-IN" dirty="0"/>
              <a:t>THANK YOU</a:t>
            </a:r>
            <a:br>
              <a:rPr lang="en-IN" dirty="0"/>
            </a:br>
            <a:br>
              <a:rPr lang="en-IN" dirty="0"/>
            </a:br>
            <a:endParaRPr lang="en-IN" dirty="0"/>
          </a:p>
        </p:txBody>
      </p:sp>
    </p:spTree>
    <p:extLst>
      <p:ext uri="{BB962C8B-B14F-4D97-AF65-F5344CB8AC3E}">
        <p14:creationId xmlns:p14="http://schemas.microsoft.com/office/powerpoint/2010/main" val="211087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187</TotalTime>
  <Words>552</Words>
  <Application>Microsoft Office PowerPoint</Application>
  <PresentationFormat>Widescreen</PresentationFormat>
  <Paragraphs>63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Times New Roman</vt:lpstr>
      <vt:lpstr>Wingdings 3</vt:lpstr>
      <vt:lpstr>Wisp</vt:lpstr>
      <vt:lpstr>SMARTWATCH SENTIMENT ANALYZER</vt:lpstr>
      <vt:lpstr>GROUP MEMBERS:</vt:lpstr>
      <vt:lpstr>PROBLEM STATEMENT &amp; OBJECTIVES</vt:lpstr>
      <vt:lpstr>PROPOSED SOLUTION &amp; WORKFLOW</vt:lpstr>
      <vt:lpstr>DATASET &amp; METHADOLOGY</vt:lpstr>
      <vt:lpstr>TECHNOLOGIES USED</vt:lpstr>
      <vt:lpstr>RESULTS &amp; FINDINGS </vt:lpstr>
      <vt:lpstr>CONCLUSION &amp; FUTURE SCOPE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SMARTWATCH SENTIMENT ANALYZER</dc:title>
  <dc:creator>HP</dc:creator>
  <cp:lastModifiedBy>Thavanesh Krishna</cp:lastModifiedBy>
  <cp:revision>18</cp:revision>
  <dcterms:created xsi:type="dcterms:W3CDTF">2025-12-03T14:03:05Z</dcterms:created>
  <dcterms:modified xsi:type="dcterms:W3CDTF">2025-12-04T04:14:10Z</dcterms:modified>
</cp:coreProperties>
</file>